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0" b="1">
                <a:solidFill>
                  <a:srgbClr val="FFFFFF"/>
                </a:solidFill>
              </a:defRPr>
            </a:pPr>
            <a:r>
              <a:t>IPL</a:t>
            </a:r>
          </a:p>
          <a:p>
            <a:pPr>
              <a:defRPr sz="3200" b="1">
                <a:solidFill>
                  <a:srgbClr val="F5A623"/>
                </a:solidFill>
              </a:defRPr>
            </a:pPr>
            <a:r>
              <a:t>CRICKET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4F0"/>
                </a:solidFill>
              </a:defRPr>
            </a:pPr>
            <a:r>
              <a:t>Data-driven insights into teams, players, toss decisions and match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74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Presented by Mukesh Chowdary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B37"/>
                </a:solidFill>
                <a:latin typeface="Aptos"/>
              </a:defRPr>
            </a:pPr>
            <a:r>
              <a:t>• Perform Exploratory Data Analysis on Indian Premier League match data.</a:t>
            </a:r>
          </a:p>
          <a:p>
            <a:pPr>
              <a:spcAft>
                <a:spcPts val="1300"/>
              </a:spcAft>
              <a:defRPr sz="2100">
                <a:solidFill>
                  <a:srgbClr val="232B37"/>
                </a:solidFill>
                <a:latin typeface="Aptos"/>
              </a:defRPr>
            </a:pPr>
            <a:r>
              <a:t>• Identify the most successful teams and influential players.</a:t>
            </a:r>
          </a:p>
          <a:p>
            <a:pPr>
              <a:spcAft>
                <a:spcPts val="1300"/>
              </a:spcAft>
              <a:defRPr sz="2100">
                <a:solidFill>
                  <a:srgbClr val="232B37"/>
                </a:solidFill>
                <a:latin typeface="Aptos"/>
              </a:defRPr>
            </a:pPr>
            <a:r>
              <a:t>• Study factors that contribute to winning or losing a match.</a:t>
            </a:r>
          </a:p>
          <a:p>
            <a:pPr>
              <a:spcAft>
                <a:spcPts val="1300"/>
              </a:spcAft>
              <a:defRPr sz="2100">
                <a:solidFill>
                  <a:srgbClr val="232B37"/>
                </a:solidFill>
                <a:latin typeface="Aptos"/>
              </a:defRPr>
            </a:pPr>
            <a:r>
              <a:t>• Translate the findings into practical endorsement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Number of Teams Participated Each Season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Teams participating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2011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938528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1938528"/>
            <a:ext cx="8183879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59" y="1901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1747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2012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635758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2635758"/>
            <a:ext cx="7365492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59" y="259918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47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2013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3332988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332988"/>
            <a:ext cx="7365492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59" y="32964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1192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Other seasons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4030217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4030217"/>
            <a:ext cx="6547103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59" y="3993641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The reference analysis reports 10 teams in 2011, 9 in 2012 and 9 in 2013; other seasons had 8 teams.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Matches Played &amp; Venue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73152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2704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Eden Gardens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Maximum number of IPL matches hosted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2704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Mumbai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30552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City with the most matches hosted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325880"/>
            <a:ext cx="73152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52704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Eden Gardens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130552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Top venue in the reference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Venue analysis highlights Eden Gardens as the leading match-hosting venue.</a:t>
            </a:r>
          </a:p>
          <a:p>
            <a:pPr>
              <a:spcAft>
                <a:spcPts val="13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reference conclusion identifies Mumbai as the city that hosted the most IPL matches.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Number of Matches Won by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Illustrative ranking from the reference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Mumbai Indians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938528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1938528"/>
            <a:ext cx="8183879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59" y="19019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Chennai Super Kings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898648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2898648"/>
            <a:ext cx="7104687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59" y="286207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Other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3858768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858768"/>
            <a:ext cx="4496637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59" y="3822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Mumbai Indians has the maximum number of winning matches, followed by Chennai Super Kings.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Toss Decision: Bat or Field?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4937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27048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FIELD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Usually preferred after winning the toss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25880"/>
            <a:ext cx="4937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1325880"/>
            <a:ext cx="73152" cy="1554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27048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HIGHER WIN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30552"/>
            <a:ext cx="4572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Reference analysis favors fielding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t>• Teams usually choose to field after winning the toss.</a:t>
            </a:r>
          </a:p>
          <a:p>
            <a:pPr>
              <a:spcAft>
                <a:spcPts val="13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t>• The reference analysis concludes that choosing to field first has a higher probability of winning.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Toss Wins &amp; Toss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F3A"/>
                </a:solidFill>
                <a:latin typeface="Aptos"/>
              </a:defRPr>
            </a:pPr>
            <a:r>
              <a:t>Relative toss-win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Mumbai Indians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892807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1892807"/>
            <a:ext cx="8183879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59" y="1856231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04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Chennai Super Kings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822448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2822448"/>
            <a:ext cx="8183879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59" y="278587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3379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B37"/>
                </a:solidFill>
              </a:defRPr>
            </a:pPr>
            <a:r>
              <a:t>Other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3752087"/>
            <a:ext cx="8183879" cy="210312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752087"/>
            <a:ext cx="6436759" cy="210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59" y="37155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11F3A"/>
                </a:solidFill>
              </a:defRPr>
            </a:pPr>
            <a:r>
              <a:t>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The reference conclusion identifies Mumbai Indians as the team with the most toss wins.</a:t>
            </a:r>
          </a:p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The analysis also tracks each team's choice to bat or field after winning the toss.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Which Player's Performance Led to Team Wins?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7160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371600"/>
            <a:ext cx="73152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CH GAYLE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76272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Most Player of the Match awards in the reference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AB DE VILLIERS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76272"/>
            <a:ext cx="4663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Next in the reference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Player of the Match awards provide a useful indicator of match-winning individual impact.</a:t>
            </a:r>
          </a:p>
          <a:p>
            <a:pPr>
              <a:spcAft>
                <a:spcPts val="13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reference analysis identifies Chris Gayle as the leading player in this measure.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Team Scoring &amp; Top Run Getters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8132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2012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84831"/>
            <a:ext cx="3017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One of the highest team-scoring seasons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73152" cy="1463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8132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2013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84831"/>
            <a:ext cx="3017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One of the highest team-scoring seasons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2801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28016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481328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VIRAT KOHLI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84831"/>
            <a:ext cx="3017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Top run getter in the reference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reference analysis reports that 2012 and 2013 had the highest team scoring.</a:t>
            </a:r>
          </a:p>
          <a:p>
            <a:pPr>
              <a:spcAft>
                <a:spcPts val="13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Virat Kohli is identified as the top run getter across the seasons studied.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Top Wicket Takers &amp; Dot Balls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846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73152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72768"/>
            <a:ext cx="44805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SL Malinga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76272"/>
            <a:ext cx="448055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Top wicket taker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4846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72768"/>
            <a:ext cx="44805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Harbhajan Singh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76272"/>
            <a:ext cx="448055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Most dot balls bowled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Wicket-taking ability and dot-ball pressure are two important indicators of bowling impact.</a:t>
            </a:r>
          </a:p>
          <a:p>
            <a:pPr>
              <a:spcAft>
                <a:spcPts val="13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The reference analysis highlights Lasith Malinga for wickets and Harbhajan Singh for dot balls.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Mumbai Indians is identified as the most successful team in the reference analysis.</a:t>
            </a:r>
          </a:p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More matches were won while chasing (419) than while defending (350).</a:t>
            </a:r>
          </a:p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The biggest defending victory was 146 runs by Mumbai Indians against Delhi Daredevils in 2017.</a:t>
            </a:r>
          </a:p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The biggest chasing victory was by 10 wickets; the reference notes 11 such instances.</a:t>
            </a:r>
          </a:p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Chris Gayle has the maximum Player of the Match titles in the reference.</a:t>
            </a:r>
          </a:p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The analysis recommends fielding first after winning the toss.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8"/>
            <a:ext cx="49377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CONSISTENT BATSMAN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93775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V Kohli • S Raina • Rohit Sharma • David Warner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73152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35608"/>
            <a:ext cx="49377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GAME-CHANGING BATSMAN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2"/>
            <a:ext cx="493775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Chris Gayle • AB de Villiers • Rohit Sharma • MS Dhoni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73152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81528"/>
            <a:ext cx="49377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EXPERIENCED / WICKET-TAKING BOWLER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85032"/>
            <a:ext cx="493775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Harbhajan Singh • A Mishra • PP Chawla • R Ashwin • Malinga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8036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88036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81528"/>
            <a:ext cx="49377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A"/>
                </a:solidFill>
                <a:latin typeface="Aptos Display"/>
              </a:defRPr>
            </a:pPr>
            <a:r>
              <a:t>GOOD ECONOMY BOWLER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85032"/>
            <a:ext cx="493775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Aptos"/>
              </a:defRPr>
            </a:pPr>
            <a:r>
              <a:t>DW Steyn • M Muralitharan • R Ashwin • SP Narine • Harbhajan Singh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54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Use the player category that best matches the brand objective: consistency, impact, finishing, wicket-taking or economy.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7085"/>
                </a:solidFill>
                <a:latin typeface="Aptos"/>
              </a:defRPr>
            </a:pPr>
            <a:r>
              <a:t>IPL ANALYSIS  •  MUKESH CHOWDARY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5A623"/>
                </a:solidFill>
                <a:latin typeface="Aptos"/>
              </a:defRPr>
            </a:pPr>
            <a:r>
              <a:t>Mukesh Chowdary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